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38404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FULL-STACK MERN ARCHITECTURE • ACADEMIC &amp; INDUSTRY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FoodHub: Food Order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Real-Time Digital Restaurant Ordering, Kitchen Fulfillment &amp; Business Intelligence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023360"/>
            <a:ext cx="98755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A580C"/>
                </a:solidFill>
              </a:defRPr>
            </a:pPr>
            <a:r>
              <a:t>Executive Summary &amp; System Introduction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FoodHub is an end-to-end web-based culinary management platform engineered using the modern MERN stack (MongoDB, Express.js, React 19, and Node.js). It seamlessly connects food patrons seeking intuitive dish discovery with restaurant administrators managing real-time kitchen queues, dynamic menus, and daily revenue statistics.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Key Highlights: Zero-refresh Single Page Architecture • Role-Based JWT Security • Live Order Tracking Timeline • Cloud/Local Multi-Tenant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02 • MOTIVATION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⚠️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810512"/>
            <a:ext cx="1463040" cy="274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Operational Inefficiencies: </a:t>
            </a:r>
            <a:r>
              <a:rPr sz="1200">
                <a:solidFill>
                  <a:srgbClr val="0F172A"/>
                </a:solidFill>
              </a:rPr>
              <a:t>Traditional pen-and-paper ordering creates kitchen bottlenecks, misplaced order slips, and billing miscalculations.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Aggregator Dominance: </a:t>
            </a:r>
            <a:r>
              <a:rPr sz="1200">
                <a:solidFill>
                  <a:srgbClr val="0F172A"/>
                </a:solidFill>
              </a:rPr>
              <a:t>Commercial aggregator monopolies charge exorbitant 20%-35% platform fees per order, eating restaurant margins.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Information Asymmetry: </a:t>
            </a:r>
            <a:r>
              <a:rPr sz="1200">
                <a:solidFill>
                  <a:srgbClr val="0F172A"/>
                </a:solidFill>
              </a:rPr>
              <a:t>Customers lack transparency into food preparation stages, leading to customer dissatisfaction and inquiry delays.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Static Menu Management: </a:t>
            </a:r>
            <a:r>
              <a:rPr sz="1200">
                <a:solidFill>
                  <a:srgbClr val="0F172A"/>
                </a:solidFill>
              </a:rPr>
              <a:t>Inability to dynamically mark sold-out items results in cancelled orders and wasted kitchen ingredients.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Data Isolation: </a:t>
            </a:r>
            <a:r>
              <a:rPr sz="1200">
                <a:solidFill>
                  <a:srgbClr val="0F172A"/>
                </a:solidFill>
              </a:rPr>
              <a:t>Standalone restaurants lose direct customer ownership, sales analytics, and localized operational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🎯 Project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810512"/>
            <a:ext cx="14630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CORE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Automated Digital Ordering: </a:t>
            </a:r>
            <a:r>
              <a:rPr sz="1200">
                <a:solidFill>
                  <a:srgbClr val="0F172A"/>
                </a:solidFill>
              </a:rPr>
              <a:t>Develop an intuitive, ultra-responsive customer portal for catalog search, filtering, and instant checkout.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Dual-Role Access Control: </a:t>
            </a:r>
            <a:r>
              <a:rPr sz="1200">
                <a:solidFill>
                  <a:srgbClr val="0F172A"/>
                </a:solidFill>
              </a:rPr>
              <a:t>Implement granular role-based authentication (Admin vs. Customer) secured via JWT tokens and bcrypt hashing.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End-to-End Order Lifecycle: </a:t>
            </a:r>
            <a:r>
              <a:rPr sz="1200">
                <a:solidFill>
                  <a:srgbClr val="0F172A"/>
                </a:solidFill>
              </a:rPr>
              <a:t>Deliver dynamic order stage progression (Placed -&gt; Preparing -&gt; Out for Delivery -&gt; Delivered) with live timestamps.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Real-Time Kitchen Console: </a:t>
            </a:r>
            <a:r>
              <a:rPr sz="1200">
                <a:solidFill>
                  <a:srgbClr val="0F172A"/>
                </a:solidFill>
              </a:rPr>
              <a:t>Provide an administrative dashboard with one-click status transitions and live menu availability toggling.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Actionable Revenue Insights: </a:t>
            </a:r>
            <a:r>
              <a:rPr sz="1200">
                <a:solidFill>
                  <a:srgbClr val="0F172A"/>
                </a:solidFill>
              </a:rPr>
              <a:t>Equip owners with live KPI analytics: total gross revenue, order volume, and pending delivery workloads.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03 • SCOPE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Scope &amp; Relevance to UN SDGs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🔭 Project Scope &amp; Demarcation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810512"/>
            <a:ext cx="146304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SYSTEM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Customer Portal (In-Scope): </a:t>
            </a:r>
            <a:r>
              <a:rPr sz="1200">
                <a:solidFill>
                  <a:srgbClr val="0F172A"/>
                </a:solidFill>
              </a:rPr>
              <a:t>Browse categorized menus, search dishes, real-time cart computation with tax/discounts, order placement &amp; tracking.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Admin/Kitchen Suite (In-Scope): </a:t>
            </a:r>
            <a:r>
              <a:rPr sz="1200">
                <a:solidFill>
                  <a:srgbClr val="0F172A"/>
                </a:solidFill>
              </a:rPr>
              <a:t>Order queue orchestration, status dispatching, catalog stock control, sales dashboard.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Security &amp; Core (In-Scope): </a:t>
            </a:r>
            <a:r>
              <a:rPr sz="1200">
                <a:solidFill>
                  <a:srgbClr val="0F172A"/>
                </a:solidFill>
              </a:rPr>
              <a:t>Protected REST API routes, cryptographic password hashing, token verification middleware, seed data generator.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Target Segments: </a:t>
            </a:r>
            <a:r>
              <a:rPr sz="1200">
                <a:solidFill>
                  <a:srgbClr val="0F172A"/>
                </a:solidFill>
              </a:rPr>
              <a:t>Independent restaurants, cloud kitchens, campus cafeterias, hotel room service, and quick-service diners.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Future Scope Extensions: </a:t>
            </a:r>
            <a:r>
              <a:rPr sz="1200">
                <a:solidFill>
                  <a:srgbClr val="0F172A"/>
                </a:solidFill>
              </a:rPr>
              <a:t>Online Payment Gateway webhook (Stripe/Razorpay), GPS courier tracking, and AI-driven personalized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🌍 Alignment with UN Sustainable Development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810512"/>
            <a:ext cx="146304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UNITED NATIONS SDGS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SDG 8: Decent Work &amp; Economic Growth: </a:t>
            </a:r>
            <a:r>
              <a:rPr sz="1200">
                <a:solidFill>
                  <a:srgbClr val="0F172A"/>
                </a:solidFill>
              </a:rPr>
              <a:t>Empowers local food enterprises by eliminating hefty aggregator commissions, boosting SME profitability, and providing digital workplace management tools.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SDG 12: Responsible Consumption &amp; Production: </a:t>
            </a:r>
            <a:r>
              <a:rPr sz="1200">
                <a:solidFill>
                  <a:srgbClr val="0F172A"/>
                </a:solidFill>
              </a:rPr>
              <a:t>Real-time menu availability toggles prevent kitchen ingredient over-prep and spoilage; 100% digital invoices eliminate paper receipts and physical ticket waste.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SDG 9: Industry, Innovation &amp; Infrastructure: </a:t>
            </a:r>
            <a:r>
              <a:rPr sz="1200">
                <a:solidFill>
                  <a:srgbClr val="0F172A"/>
                </a:solidFill>
              </a:rPr>
              <a:t>Demonstrates modern, resilient digital micro-infrastructure leveraging decoupled REST APIs and scalable non-relational data modeling.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SDG 11: Sustainable Communities: </a:t>
            </a:r>
            <a:r>
              <a:rPr sz="1200">
                <a:solidFill>
                  <a:srgbClr val="0F172A"/>
                </a:solidFill>
              </a:rPr>
              <a:t>Fosters decentralized hyper-local food networks by connecting neighborhood kitchens directly with local patrons.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04 • RESEARCH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Study of Existing Solutions &amp; 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Academic Research Paper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10512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Publication: </a:t>
            </a:r>
            <a:r>
              <a:rPr sz="1200">
                <a:solidFill>
                  <a:srgbClr val="0F172A"/>
                </a:solidFill>
              </a:rPr>
              <a:t>IEEE / IJERT (Noor et al.)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Study Title: </a:t>
            </a:r>
            <a:r>
              <a:rPr sz="1200">
                <a:solidFill>
                  <a:srgbClr val="0F172A"/>
                </a:solidFill>
              </a:rPr>
              <a:t>"Design &amp; Implementation of Web-Based Food Ordering Systems"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Findings: </a:t>
            </a:r>
            <a:r>
              <a:rPr sz="1200">
                <a:solidFill>
                  <a:srgbClr val="0F172A"/>
                </a:solidFill>
              </a:rPr>
              <a:t>Examined classical web apps built with monolithic SQL architectures. Encountered significant database locking during peak rush hours and rigid tabular menu schemas.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FoodHub Advantage: </a:t>
            </a:r>
            <a:r>
              <a:rPr sz="1200">
                <a:solidFill>
                  <a:srgbClr val="0F172A"/>
                </a:solidFill>
              </a:rPr>
              <a:t>Leverages MongoDB's flexible schema-less JSON document model, enabling sub-millisecond food catalog queries and dynamic dietary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Academic Research Paper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10512"/>
            <a:ext cx="14630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Publication: </a:t>
            </a:r>
            <a:r>
              <a:rPr sz="1200">
                <a:solidFill>
                  <a:srgbClr val="0F172A"/>
                </a:solidFill>
              </a:rPr>
              <a:t>IJACSA / Springer (Patel &amp; Shah)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Study Title: </a:t>
            </a:r>
            <a:r>
              <a:rPr sz="1200">
                <a:solidFill>
                  <a:srgbClr val="0F172A"/>
                </a:solidFill>
              </a:rPr>
              <a:t>"Real-Time Kitchen Coordination &amp; Order Tracking System"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Findings: </a:t>
            </a:r>
            <a:r>
              <a:rPr sz="1200">
                <a:solidFill>
                  <a:srgbClr val="0F172A"/>
                </a:solidFill>
              </a:rPr>
              <a:t>Analyzed status communication latencies between dining waitstaff and chefs. Concluded that manual communication caused 38% of order preparation delays.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FoodHub Advantage: </a:t>
            </a:r>
            <a:r>
              <a:rPr sz="1200">
                <a:solidFill>
                  <a:srgbClr val="0F172A"/>
                </a:solidFill>
              </a:rPr>
              <a:t>Introduces dedicated dual-portal status state machine: admin status toggle instantly updates customer timeline without telephone or paper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⚡ Commercial Aggregators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810512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INDUSTRY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Market Solutions: </a:t>
            </a:r>
            <a:r>
              <a:rPr sz="1200">
                <a:solidFill>
                  <a:srgbClr val="0F172A"/>
                </a:solidFill>
              </a:rPr>
              <a:t>Zomato, Swiggy, UberEats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Limitations: </a:t>
            </a:r>
            <a:r>
              <a:rPr sz="1200">
                <a:solidFill>
                  <a:srgbClr val="0F172A"/>
                </a:solidFill>
              </a:rPr>
              <a:t>Charge 20% to 35% commission on gross sales. Aggregators mask customer contact data, preventing restaurants from establishing direct loyalty programs.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Vendor Lock-in: </a:t>
            </a:r>
            <a:r>
              <a:rPr sz="1200">
                <a:solidFill>
                  <a:srgbClr val="0F172A"/>
                </a:solidFill>
              </a:rPr>
              <a:t>Third-party platform algorithms penalize independent kitchens.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FoodHub Advantage: </a:t>
            </a:r>
            <a:r>
              <a:rPr sz="1200">
                <a:solidFill>
                  <a:srgbClr val="0F172A"/>
                </a:solidFill>
              </a:rPr>
              <a:t>Zero commission overhead, full customer ownership, autonomous branding, self-hosted deployment on premises or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05 • SYSTEM DESIGN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Solution &amp; System Architecture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A580C"/>
                </a:solidFill>
              </a:defRPr>
            </a:pPr>
            <a:r>
              <a:t>STEP 1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Customer Discovery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Browse categorized menu, search items, filter veg/spicy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STEP 2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Interactive Cart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Manage item quantities, instant tax/delivery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STEP 3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Secure Checkout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JWT authentication, delivery address &amp; payment capture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11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410C"/>
                </a:solidFill>
              </a:defRPr>
            </a:pPr>
            <a:r>
              <a:t>STEP 4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Kitchen Dispatch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Admin dashboard receives order; updates status to 'Preparing'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5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Live Tracking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Customer views updated timeline: 'Out for Delivery' -&gt; 'Delivered'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🏛️ Multi-Tier Architecture &amp; Data Flow Overview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EA580C"/>
                </a:solidFill>
              </a:rPr>
              <a:t>• Client Tier (Presentation): </a:t>
            </a:r>
            <a:r>
              <a:rPr sz="1100">
                <a:solidFill>
                  <a:srgbClr val="0F172A"/>
                </a:solidFill>
              </a:rPr>
              <a:t>React 19 Single Page Application • Vite HMR • Lucide Icons • React Context State (Auth, Cart, Toast)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EA580C"/>
                </a:solidFill>
              </a:rPr>
              <a:t>• API Gateway Tier (Controller): </a:t>
            </a:r>
            <a:r>
              <a:rPr sz="1100">
                <a:solidFill>
                  <a:srgbClr val="0F172A"/>
                </a:solidFill>
              </a:rPr>
              <a:t>Node.js &amp; Express.js REST API • CORS Handlers • JWT Verification Guard • JSON Parsing Middleware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EA580C"/>
                </a:solidFill>
              </a:rPr>
              <a:t>• Business Service Tier (Logic): </a:t>
            </a:r>
            <a:r>
              <a:rPr sz="1100">
                <a:solidFill>
                  <a:srgbClr val="0F172A"/>
                </a:solidFill>
              </a:rPr>
              <a:t>Order State Engine • Auth &amp; Bcrypt Hashing Service • Menu Catalog Queries • Real-time Stats Aggregator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EA580C"/>
                </a:solidFill>
              </a:rPr>
              <a:t>• Database Tier (Persistence): </a:t>
            </a:r>
            <a:r>
              <a:rPr sz="1100">
                <a:solidFill>
                  <a:srgbClr val="0F172A"/>
                </a:solidFill>
              </a:rPr>
              <a:t>MongoDB Document Store • Mongoose Schemas (User, FoodItem, Category, Order) • Automated Seeding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06 • 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Modules Identified &amp; Functional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   Module 1: Authentication &amp; RBAC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   Bcrypt password hashing (10 rounds), signed JSON Web Tokens (JWT), automatic token persistence in client localStorage, role verification (Customer vs. Admin).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37160" cy="62179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   Module 2: Menu &amp; Catalog Management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   Dynamic multi-category filtering, full-text dish search, vegetarian/non-veg tags, spice meter ratings, and instant food stock toggling.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88336"/>
            <a:ext cx="137160" cy="6217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11296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   Module 3: Cart &amp; Dynamic Checkout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   Client-side cart drawer, real-time quantity increments/decrements, subtotal computation, coupon discounts, GST calculation, delivery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21024"/>
            <a:ext cx="137160" cy="6217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443984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   Module 4: Order Lifecycle State Machine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   Status transitions: Placed -&gt; Preparing -&gt; Out for Delivery -&gt; Delivered. Chronological audit history with timestamped timeline entries.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53712"/>
            <a:ext cx="137160" cy="62179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376672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   Module 5: Admin Kitchen Control Suite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   Master control room: Live revenue KPI metrics, active order queue counter, order status dispatch action buttons, and direct inventory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86400"/>
            <a:ext cx="137160" cy="6217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07 • TECH STACK &amp;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Technologies, Tools &amp; Hardware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💻 Frontend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10512"/>
            <a:ext cx="146304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Framework: </a:t>
            </a:r>
            <a:r>
              <a:rPr sz="1200">
                <a:solidFill>
                  <a:srgbClr val="0F172A"/>
                </a:solidFill>
              </a:rPr>
              <a:t>React 19 (Modern Hooks, Component Architecture, Fast SPA rendering)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Build Tool: </a:t>
            </a:r>
            <a:r>
              <a:rPr sz="1200">
                <a:solidFill>
                  <a:srgbClr val="0F172A"/>
                </a:solidFill>
              </a:rPr>
              <a:t>Vite 6 (Instant Hot Module Replacement &amp; production bundle)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Styling System: </a:t>
            </a:r>
            <a:r>
              <a:rPr sz="1200">
                <a:solidFill>
                  <a:srgbClr val="0F172A"/>
                </a:solidFill>
              </a:rPr>
              <a:t>Vanilla CSS3 (Responsive grid, curated color palette, glassmorphism)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State Management: </a:t>
            </a:r>
            <a:r>
              <a:rPr sz="1200">
                <a:solidFill>
                  <a:srgbClr val="0F172A"/>
                </a:solidFill>
              </a:rPr>
              <a:t>React Context API (Auth, Cart, Toast notifications)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Iconography: </a:t>
            </a:r>
            <a:r>
              <a:rPr sz="1200">
                <a:solidFill>
                  <a:srgbClr val="0F172A"/>
                </a:solidFill>
              </a:rPr>
              <a:t>Lucide React (Vector icons)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⚙️ Backend &amp;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10512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APPLICATION &amp; DATA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Runtime: </a:t>
            </a:r>
            <a:r>
              <a:rPr sz="1200">
                <a:solidFill>
                  <a:srgbClr val="0F172A"/>
                </a:solidFill>
              </a:rPr>
              <a:t>Node.js v20+ LTS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Web Framework: </a:t>
            </a:r>
            <a:r>
              <a:rPr sz="1200">
                <a:solidFill>
                  <a:srgbClr val="0F172A"/>
                </a:solidFill>
              </a:rPr>
              <a:t>Express.js v4.21 (Modular router, JSON middleware)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Database: </a:t>
            </a:r>
            <a:r>
              <a:rPr sz="1200">
                <a:solidFill>
                  <a:srgbClr val="0F172A"/>
                </a:solidFill>
              </a:rPr>
              <a:t>MongoDB v8.x (High throughput document database)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ODM: </a:t>
            </a:r>
            <a:r>
              <a:rPr sz="1200">
                <a:solidFill>
                  <a:srgbClr val="0F172A"/>
                </a:solidFill>
              </a:rPr>
              <a:t>Mongoose v8.9 (Strict schema validations, index indexing)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Security: </a:t>
            </a:r>
            <a:r>
              <a:rPr sz="1200">
                <a:solidFill>
                  <a:srgbClr val="0F172A"/>
                </a:solidFill>
              </a:rPr>
              <a:t>JSONWebToken (JWT) &amp; BcryptJS (Password salt/hash)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🛠️ Tools &amp;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810512"/>
            <a:ext cx="14630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Version Control: </a:t>
            </a:r>
            <a:r>
              <a:rPr sz="1200">
                <a:solidFill>
                  <a:srgbClr val="0F172A"/>
                </a:solidFill>
              </a:rPr>
              <a:t>Git &amp; GitHub Remote Repository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Execution Scripts: </a:t>
            </a:r>
            <a:r>
              <a:rPr sz="1200">
                <a:solidFill>
                  <a:srgbClr val="0F172A"/>
                </a:solidFill>
              </a:rPr>
              <a:t>PowerShell &amp; Windows Batch (start.bat, end.bat, push_to_github.bat)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Hardware Specs: </a:t>
            </a:r>
            <a:r>
              <a:rPr sz="1200">
                <a:solidFill>
                  <a:srgbClr val="0F172A"/>
                </a:solidFill>
              </a:rPr>
              <a:t>Standard workstation: Dual-Core CPU, 4GB+ RAM, 5GB disk space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API Testing: </a:t>
            </a:r>
            <a:r>
              <a:rPr sz="1200">
                <a:solidFill>
                  <a:srgbClr val="0F172A"/>
                </a:solidFill>
              </a:rPr>
              <a:t>PowerShell automated integration testing suite (test_api.ps1)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08 • DELIVERABLES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Expected Outcomes &amp; Tentative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🏆 Expected Project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810512"/>
            <a:ext cx="14630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Production-Ready MERN Portal: </a:t>
            </a:r>
            <a:r>
              <a:rPr sz="1200">
                <a:solidFill>
                  <a:srgbClr val="0F172A"/>
                </a:solidFill>
              </a:rPr>
              <a:t>Flawlessly functioning online ordering web application deployed with sub-second API latency.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Empowered Kitchen Staff: </a:t>
            </a:r>
            <a:r>
              <a:rPr sz="1200">
                <a:solidFill>
                  <a:srgbClr val="0F172A"/>
                </a:solidFill>
              </a:rPr>
              <a:t>Elimination of misplaced order tickets via real-time status dispatch buttons.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Zero Financial Aggregator Leakage: </a:t>
            </a:r>
            <a:r>
              <a:rPr sz="1200">
                <a:solidFill>
                  <a:srgbClr val="0F172A"/>
                </a:solidFill>
              </a:rPr>
              <a:t>100% direct revenue retention for the food establishment.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Eco-Friendly Paperless Billing: </a:t>
            </a:r>
            <a:r>
              <a:rPr sz="1200">
                <a:solidFill>
                  <a:srgbClr val="0F172A"/>
                </a:solidFill>
              </a:rPr>
              <a:t>Full digital invoice audit trail supporting SDG 12 sustainability guidelines.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Verified Reliability: </a:t>
            </a:r>
            <a:r>
              <a:rPr sz="1200">
                <a:solidFill>
                  <a:srgbClr val="0F172A"/>
                </a:solidFill>
              </a:rPr>
              <a:t>Comprehensive automated integration test suite validating end-to-end customer and admin journeys with 100% pass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📅 Tentative 10-Week Gantt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810512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1 - 2: Foundation: </a:t>
            </a:r>
            <a:r>
              <a:rPr sz="1200">
                <a:solidFill>
                  <a:srgbClr val="0F172A"/>
                </a:solidFill>
              </a:rPr>
              <a:t>Requirements gathering, architectural definition, Mongoose schema modeling &amp; DB setup.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3 - 4: Backend REST APIs: </a:t>
            </a:r>
            <a:r>
              <a:rPr sz="1200">
                <a:solidFill>
                  <a:srgbClr val="0F172A"/>
                </a:solidFill>
              </a:rPr>
              <a:t>Implementation of Express route controllers, JWT authentication, and automated data seeders.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5 - 6: Frontend Development: </a:t>
            </a:r>
            <a:r>
              <a:rPr sz="1200">
                <a:solidFill>
                  <a:srgbClr val="0F172A"/>
                </a:solidFill>
              </a:rPr>
              <a:t>Responsive UI implementation (catalog, cart drawer, food detail modal, toast alerts).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7 - 8: Integration &amp; Admin Suite: </a:t>
            </a:r>
            <a:r>
              <a:rPr sz="1200">
                <a:solidFill>
                  <a:srgbClr val="0F172A"/>
                </a:solidFill>
              </a:rPr>
              <a:t>Admin dashboard, order state machine, timeline tracking, and live stock toggles.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9: Testing &amp; Optimization: </a:t>
            </a:r>
            <a:r>
              <a:rPr sz="1200">
                <a:solidFill>
                  <a:srgbClr val="0F172A"/>
                </a:solidFill>
              </a:rPr>
              <a:t>Unit &amp; API integration testing (test_api.ps1), security audit, performance tuning.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Week 10: Deployment &amp; Handover: </a:t>
            </a:r>
            <a:r>
              <a:rPr sz="1200">
                <a:solidFill>
                  <a:srgbClr val="0F172A"/>
                </a:solidFill>
              </a:rPr>
              <a:t>GitHub version control setup, documentation, user manuals,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